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62" d="100"/>
          <a:sy n="62" d="100"/>
        </p:scale>
        <p:origin x="6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水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532241774_2880x1920.jpg"/>
          <p:cNvSpPr>
            <a:spLocks noGrp="1"/>
          </p:cNvSpPr>
          <p:nvPr>
            <p:ph type="pic" idx="21"/>
          </p:nvPr>
        </p:nvSpPr>
        <p:spPr>
          <a:xfrm>
            <a:off x="3125968" y="-393700"/>
            <a:ext cx="18135601" cy="12090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标题文本"/>
          <p:cNvSpPr txBox="1">
            <a:spLocks noGrp="1"/>
          </p:cNvSpPr>
          <p:nvPr>
            <p:ph type="title"/>
          </p:nvPr>
        </p:nvSpPr>
        <p:spPr>
          <a:xfrm>
            <a:off x="635000" y="9512300"/>
            <a:ext cx="23114000" cy="20066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2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635000" y="11442700"/>
            <a:ext cx="23114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居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标题文本"/>
          <p:cNvSpPr txBox="1">
            <a:spLocks noGrp="1"/>
          </p:cNvSpPr>
          <p:nvPr>
            <p:ph type="title"/>
          </p:nvPr>
        </p:nvSpPr>
        <p:spPr>
          <a:xfrm>
            <a:off x="1778000" y="4533900"/>
            <a:ext cx="20828000" cy="4648200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垂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532204087_1355x1355.jpg"/>
          <p:cNvSpPr>
            <a:spLocks noGrp="1"/>
          </p:cNvSpPr>
          <p:nvPr>
            <p:ph type="pic" sz="half" idx="21"/>
          </p:nvPr>
        </p:nvSpPr>
        <p:spPr>
          <a:xfrm>
            <a:off x="12827000" y="952500"/>
            <a:ext cx="1146810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标题文本"/>
          <p:cNvSpPr txBox="1">
            <a:spLocks noGrp="1"/>
          </p:cNvSpPr>
          <p:nvPr>
            <p:ph type="title"/>
          </p:nvPr>
        </p:nvSpPr>
        <p:spPr>
          <a:xfrm>
            <a:off x="1651000" y="952500"/>
            <a:ext cx="10223500" cy="5549900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r>
              <a:t>标题文本</a:t>
            </a:r>
          </a:p>
        </p:txBody>
      </p:sp>
      <p:sp>
        <p:nvSpPr>
          <p:cNvPr id="4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651000" y="6527800"/>
            <a:ext cx="10223500" cy="57277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 - 顶部对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532205080_1647x1098.jpg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532205080_1647x1098.jpg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532204087_1355x1355.jpg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532241774_2880x1920.jpg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苏子柔"/>
          <p:cNvSpPr txBox="1">
            <a:spLocks noGrp="1"/>
          </p:cNvSpPr>
          <p:nvPr>
            <p:ph type="body" sz="quarter" idx="21"/>
          </p:nvPr>
        </p:nvSpPr>
        <p:spPr>
          <a:xfrm>
            <a:off x="2387600" y="8953500"/>
            <a:ext cx="19621500" cy="6731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–苏子柔</a:t>
            </a:r>
          </a:p>
        </p:txBody>
      </p:sp>
      <p:sp>
        <p:nvSpPr>
          <p:cNvPr id="94" name="“在此键入引文。”"/>
          <p:cNvSpPr txBox="1">
            <a:spLocks noGrp="1"/>
          </p:cNvSpPr>
          <p:nvPr>
            <p:ph type="body" sz="quarter" idx="22"/>
          </p:nvPr>
        </p:nvSpPr>
        <p:spPr>
          <a:xfrm>
            <a:off x="2387600" y="6013450"/>
            <a:ext cx="19621500" cy="9525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48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“在此键入引文。”</a:t>
            </a:r>
          </a:p>
        </p:txBody>
      </p:sp>
      <p:sp>
        <p:nvSpPr>
          <p:cNvPr id="9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532241774_2880x1920.jpg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52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数据结构 - 实验二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数据结构 - 实验二</a:t>
            </a:r>
          </a:p>
        </p:txBody>
      </p:sp>
      <p:sp>
        <p:nvSpPr>
          <p:cNvPr id="120" name="教师 ： 陈彤兵…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619125">
              <a:defRPr sz="4050"/>
            </a:pPr>
            <a:r>
              <a:t>教师 ： 陈彤兵</a:t>
            </a:r>
          </a:p>
          <a:p>
            <a:pPr defTabSz="619125">
              <a:defRPr sz="4050"/>
            </a:pPr>
            <a:r>
              <a:t>助教：贺蕴 张晓宇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题目一 - 输出中间元素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题目一 - 输出中间元素</a:t>
            </a:r>
          </a:p>
        </p:txBody>
      </p:sp>
      <p:sp>
        <p:nvSpPr>
          <p:cNvPr id="123" name="题目要求：输入数据创建一个单链表，实现一种算法。输出该单链表的中间结点的值，如果链表长度为偶数，则输出「中间靠右」的结点。如果链表只有一个元素，则输出唯一的元素。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552450" indent="-552450" defTabSz="718184">
              <a:spcBef>
                <a:spcPts val="5100"/>
              </a:spcBef>
              <a:defRPr sz="4176"/>
            </a:pPr>
            <a:r>
              <a:t>题目要求：输入数据创建一个单链表，实现一种算法。输出该单链表的中间结点的值，如果链表长度为偶数，则输出「中间靠右」的结点。如果链表只有一个元素，则输出唯一的元素。</a:t>
            </a:r>
          </a:p>
          <a:p>
            <a:pPr marL="552450" indent="-552450" defTabSz="718184">
              <a:spcBef>
                <a:spcPts val="5100"/>
              </a:spcBef>
              <a:defRPr sz="4176"/>
            </a:pPr>
            <a:r>
              <a:t>输入格式</a:t>
            </a:r>
          </a:p>
          <a:p>
            <a:pPr marL="1104900" lvl="1" indent="-552450" defTabSz="718184">
              <a:spcBef>
                <a:spcPts val="5100"/>
              </a:spcBef>
              <a:defRPr sz="4176"/>
            </a:pPr>
            <a:r>
              <a:t>第一行输入一个整数n，表示之后会输入n个结点值</a:t>
            </a:r>
          </a:p>
          <a:p>
            <a:pPr marL="1104900" lvl="1" indent="-552450" defTabSz="718184">
              <a:spcBef>
                <a:spcPts val="5100"/>
              </a:spcBef>
              <a:defRPr sz="4176"/>
            </a:pPr>
            <a:r>
              <a:t>第二行为空格分开的n个整数，表示结点值</a:t>
            </a:r>
          </a:p>
          <a:p>
            <a:pPr marL="552450" indent="-552450" defTabSz="718184">
              <a:spcBef>
                <a:spcPts val="5100"/>
              </a:spcBef>
              <a:defRPr sz="4176"/>
            </a:pPr>
            <a:r>
              <a:t>输出格式</a:t>
            </a:r>
          </a:p>
          <a:p>
            <a:pPr marL="1104900" lvl="1" indent="-552450" defTabSz="718184">
              <a:spcBef>
                <a:spcPts val="5100"/>
              </a:spcBef>
              <a:defRPr sz="4176"/>
            </a:pPr>
            <a:r>
              <a:t>输出一行，表示中间元素的值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题目一 - 输出中间元素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题目一 - 输出中间元素</a:t>
            </a:r>
          </a:p>
        </p:txBody>
      </p:sp>
      <p:sp>
        <p:nvSpPr>
          <p:cNvPr id="126" name="示例数据 #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示例数据 #1</a:t>
            </a:r>
          </a:p>
          <a:p>
            <a:r>
              <a:t>输入：</a:t>
            </a:r>
          </a:p>
          <a:p>
            <a:r>
              <a:t>3</a:t>
            </a:r>
          </a:p>
          <a:p>
            <a:r>
              <a:t>2 1 3</a:t>
            </a:r>
          </a:p>
          <a:p>
            <a:r>
              <a:t>输出：</a:t>
            </a:r>
          </a:p>
          <a:p>
            <a:r>
              <a:t>1</a:t>
            </a:r>
          </a:p>
        </p:txBody>
      </p:sp>
      <p:sp>
        <p:nvSpPr>
          <p:cNvPr id="127" name="示例数据 #2…"/>
          <p:cNvSpPr txBox="1"/>
          <p:nvPr/>
        </p:nvSpPr>
        <p:spPr>
          <a:xfrm>
            <a:off x="13995399" y="3460750"/>
            <a:ext cx="4647084" cy="8572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/>
            </a:pPr>
            <a:r>
              <a:t>示例数据 #2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/>
            </a:pPr>
            <a:r>
              <a:t>输入：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/>
            </a:pPr>
            <a:r>
              <a:t>8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/>
            </a:pPr>
            <a:r>
              <a:t>1 2 3 4 5 6 7 8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/>
            </a:pPr>
            <a:r>
              <a:t>输出：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4800" b="0"/>
            </a:pPr>
            <a:r>
              <a:t>5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题目一 - 题目思路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题目一 - 题目思路</a:t>
            </a:r>
          </a:p>
        </p:txBody>
      </p:sp>
      <p:sp>
        <p:nvSpPr>
          <p:cNvPr id="130" name="1"/>
          <p:cNvSpPr/>
          <p:nvPr/>
        </p:nvSpPr>
        <p:spPr>
          <a:xfrm>
            <a:off x="3183983" y="3522019"/>
            <a:ext cx="1688064" cy="53995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1</a:t>
            </a:r>
          </a:p>
        </p:txBody>
      </p:sp>
      <p:sp>
        <p:nvSpPr>
          <p:cNvPr id="131" name="7"/>
          <p:cNvSpPr/>
          <p:nvPr/>
        </p:nvSpPr>
        <p:spPr>
          <a:xfrm>
            <a:off x="19511953" y="3522019"/>
            <a:ext cx="1688064" cy="53995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7</a:t>
            </a:r>
          </a:p>
        </p:txBody>
      </p:sp>
      <p:sp>
        <p:nvSpPr>
          <p:cNvPr id="132" name="6"/>
          <p:cNvSpPr/>
          <p:nvPr/>
        </p:nvSpPr>
        <p:spPr>
          <a:xfrm>
            <a:off x="16790625" y="3522019"/>
            <a:ext cx="1688063" cy="53995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6</a:t>
            </a:r>
          </a:p>
        </p:txBody>
      </p:sp>
      <p:sp>
        <p:nvSpPr>
          <p:cNvPr id="133" name="5"/>
          <p:cNvSpPr/>
          <p:nvPr/>
        </p:nvSpPr>
        <p:spPr>
          <a:xfrm>
            <a:off x="14069297" y="3522019"/>
            <a:ext cx="1688063" cy="53995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5</a:t>
            </a:r>
          </a:p>
        </p:txBody>
      </p:sp>
      <p:sp>
        <p:nvSpPr>
          <p:cNvPr id="134" name="4"/>
          <p:cNvSpPr/>
          <p:nvPr/>
        </p:nvSpPr>
        <p:spPr>
          <a:xfrm>
            <a:off x="11347968" y="3522019"/>
            <a:ext cx="1688064" cy="53995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4</a:t>
            </a:r>
          </a:p>
        </p:txBody>
      </p:sp>
      <p:sp>
        <p:nvSpPr>
          <p:cNvPr id="135" name="3"/>
          <p:cNvSpPr/>
          <p:nvPr/>
        </p:nvSpPr>
        <p:spPr>
          <a:xfrm>
            <a:off x="8626640" y="3522019"/>
            <a:ext cx="1688063" cy="53995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3</a:t>
            </a:r>
          </a:p>
        </p:txBody>
      </p:sp>
      <p:sp>
        <p:nvSpPr>
          <p:cNvPr id="136" name="2"/>
          <p:cNvSpPr/>
          <p:nvPr/>
        </p:nvSpPr>
        <p:spPr>
          <a:xfrm>
            <a:off x="5905312" y="3522019"/>
            <a:ext cx="1688063" cy="53995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2</a:t>
            </a:r>
          </a:p>
        </p:txBody>
      </p:sp>
      <p:sp>
        <p:nvSpPr>
          <p:cNvPr id="137" name="线条"/>
          <p:cNvSpPr/>
          <p:nvPr/>
        </p:nvSpPr>
        <p:spPr>
          <a:xfrm>
            <a:off x="4028015" y="2707736"/>
            <a:ext cx="1" cy="818044"/>
          </a:xfrm>
          <a:prstGeom prst="line">
            <a:avLst/>
          </a:prstGeom>
          <a:ln w="25400">
            <a:solidFill>
              <a:schemeClr val="accent5">
                <a:hueOff val="-82419"/>
                <a:satOff val="-9513"/>
                <a:lumOff val="-16343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38" name="线条"/>
          <p:cNvSpPr/>
          <p:nvPr/>
        </p:nvSpPr>
        <p:spPr>
          <a:xfrm flipV="1">
            <a:off x="4028015" y="4115947"/>
            <a:ext cx="1" cy="818043"/>
          </a:xfrm>
          <a:prstGeom prst="line">
            <a:avLst/>
          </a:prstGeom>
          <a:ln w="25400">
            <a:solidFill>
              <a:schemeClr val="accent1">
                <a:lumOff val="-13575"/>
              </a:schemeClr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39" name="蓝色箭头走两步，红色箭头走一步。蓝色箭头走过的路程始终是红色箭头的 2 倍…"/>
          <p:cNvSpPr txBox="1"/>
          <p:nvPr/>
        </p:nvSpPr>
        <p:spPr>
          <a:xfrm>
            <a:off x="6625955" y="6985700"/>
            <a:ext cx="11132090" cy="2246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555625" indent="-555625">
              <a:buSzPct val="100000"/>
              <a:buAutoNum type="arabicPeriod"/>
            </a:pPr>
            <a:r>
              <a:t>蓝色箭头走两步，红色箭头走一步。蓝色箭头走过的路程始终是红色箭头的 2 倍</a:t>
            </a:r>
          </a:p>
          <a:p>
            <a:pPr marL="555625" indent="-555625">
              <a:buSzPct val="100000"/>
              <a:buAutoNum type="arabicPeriod"/>
            </a:pPr>
            <a:r>
              <a:t>当蓝色箭头走到链表末尾时，红色箭头走过的路程是蓝色箭头的一半，此时红色箭头指向链表的中间元素</a:t>
            </a:r>
          </a:p>
        </p:txBody>
      </p:sp>
      <p:sp>
        <p:nvSpPr>
          <p:cNvPr id="140" name="线条"/>
          <p:cNvSpPr/>
          <p:nvPr/>
        </p:nvSpPr>
        <p:spPr>
          <a:xfrm>
            <a:off x="4907692" y="3791994"/>
            <a:ext cx="10408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1" name="线条"/>
          <p:cNvSpPr/>
          <p:nvPr/>
        </p:nvSpPr>
        <p:spPr>
          <a:xfrm>
            <a:off x="7589572" y="3791994"/>
            <a:ext cx="10408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2" name="线条"/>
          <p:cNvSpPr/>
          <p:nvPr/>
        </p:nvSpPr>
        <p:spPr>
          <a:xfrm>
            <a:off x="10310900" y="3791994"/>
            <a:ext cx="10408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3" name="线条"/>
          <p:cNvSpPr/>
          <p:nvPr/>
        </p:nvSpPr>
        <p:spPr>
          <a:xfrm>
            <a:off x="13032229" y="3791994"/>
            <a:ext cx="10408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4" name="线条"/>
          <p:cNvSpPr/>
          <p:nvPr/>
        </p:nvSpPr>
        <p:spPr>
          <a:xfrm>
            <a:off x="15753557" y="3791994"/>
            <a:ext cx="10408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45" name="线条"/>
          <p:cNvSpPr/>
          <p:nvPr/>
        </p:nvSpPr>
        <p:spPr>
          <a:xfrm>
            <a:off x="18474885" y="3791994"/>
            <a:ext cx="1040871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223125 -0.001458" pathEditMode="relative">
                                      <p:cBhvr>
                                        <p:cTn id="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000 0.000000 L 0.113653 0.001211" pathEditMode="relative">
                                      <p:cBhvr>
                                        <p:cTn id="1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3125 -0.001458 L 0.446251 -0.001458" pathEditMode="relative">
                                      <p:cBhvr>
                                        <p:cTn id="14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3653 0.001211 L 0.223779 0.000424" pathEditMode="relative">
                                      <p:cBhvr>
                                        <p:cTn id="18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-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6251 -0.001458 L 0.669376 0.000000" pathEditMode="relative">
                                      <p:cBhvr>
                                        <p:cTn id="22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-1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3779 0.000424 L 0.336274 -0.000245" pathEditMode="relative">
                                      <p:cBhvr>
                                        <p:cTn id="2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题目二 - 线性表相加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题目二 - 线性表相加</a:t>
            </a:r>
          </a:p>
        </p:txBody>
      </p:sp>
      <p:sp>
        <p:nvSpPr>
          <p:cNvPr id="148" name="题目要求：输入数据创建两个非空线性表/数组来代表两个正整数，线性表/数组中的每个结点只存储一位数字。实现一种算法，将这两个线性表/数组相加得到一个的新的线性表，并将该线性表/数组输出。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44500" indent="-444500" defTabSz="577850">
              <a:spcBef>
                <a:spcPts val="4100"/>
              </a:spcBef>
              <a:defRPr sz="3359"/>
            </a:pPr>
            <a:r>
              <a:t>题目要求：输入数据创建两个非空线性表/数组来代表两个正整数，线性表/数组中的每个结点只存储一位数字。实现一种算法，将这两个线性表/数组相加得到一个的新的线性表，并将该线性表/数组输出。</a:t>
            </a:r>
          </a:p>
          <a:p>
            <a:pPr marL="444500" indent="-444500" defTabSz="577850">
              <a:spcBef>
                <a:spcPts val="4100"/>
              </a:spcBef>
              <a:defRPr sz="3359"/>
            </a:pPr>
            <a:r>
              <a:t>输入格式</a:t>
            </a:r>
          </a:p>
          <a:p>
            <a:pPr marL="889000" lvl="1" indent="-444500" defTabSz="577850">
              <a:spcBef>
                <a:spcPts val="4100"/>
              </a:spcBef>
              <a:defRPr sz="3359"/>
            </a:pPr>
            <a:r>
              <a:t>第一行输入一个整数n，表示之后会输入n个结点值创建第一个线性表</a:t>
            </a:r>
          </a:p>
          <a:p>
            <a:pPr marL="889000" lvl="1" indent="-444500" defTabSz="577850">
              <a:spcBef>
                <a:spcPts val="4100"/>
              </a:spcBef>
              <a:defRPr sz="3359"/>
            </a:pPr>
            <a:r>
              <a:t>第二行为空格分开的n个整数，表示结点值</a:t>
            </a:r>
          </a:p>
          <a:p>
            <a:pPr marL="889000" lvl="1" indent="-444500" defTabSz="577850">
              <a:spcBef>
                <a:spcPts val="4100"/>
              </a:spcBef>
              <a:defRPr sz="3359"/>
            </a:pPr>
            <a:r>
              <a:t>第三行输入一个整数m，表示之后会输入m个结点值创建第二个线性表</a:t>
            </a:r>
          </a:p>
          <a:p>
            <a:pPr marL="889000" lvl="1" indent="-444500" defTabSz="577850">
              <a:spcBef>
                <a:spcPts val="4100"/>
              </a:spcBef>
              <a:defRPr sz="3359"/>
            </a:pPr>
            <a:r>
              <a:t>第四行为空格分开的m个整数，表示结点值</a:t>
            </a:r>
          </a:p>
          <a:p>
            <a:pPr marL="444500" indent="-444500" defTabSz="577850">
              <a:spcBef>
                <a:spcPts val="4100"/>
              </a:spcBef>
              <a:defRPr sz="3359"/>
            </a:pPr>
            <a:r>
              <a:t>输出格式</a:t>
            </a:r>
          </a:p>
          <a:p>
            <a:pPr marL="889000" lvl="1" indent="-444500" defTabSz="577850">
              <a:spcBef>
                <a:spcPts val="4100"/>
              </a:spcBef>
              <a:defRPr sz="3359"/>
            </a:pPr>
            <a:r>
              <a:t>输出一行，表示相加得到的新线性表，线性表元素之间以空格隔开。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题目二 - 线性表相加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题目二 - 线性表相加</a:t>
            </a:r>
          </a:p>
        </p:txBody>
      </p:sp>
      <p:sp>
        <p:nvSpPr>
          <p:cNvPr id="151" name="示例数据 #1…"/>
          <p:cNvSpPr txBox="1"/>
          <p:nvPr/>
        </p:nvSpPr>
        <p:spPr>
          <a:xfrm>
            <a:off x="3080325" y="2635249"/>
            <a:ext cx="3350515" cy="1022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示例数据 #1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输入：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4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7 2 4 3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3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5 6 4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输出：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7 8 0 7</a:t>
            </a:r>
          </a:p>
        </p:txBody>
      </p:sp>
      <p:sp>
        <p:nvSpPr>
          <p:cNvPr id="152" name="示例数据 #2…"/>
          <p:cNvSpPr txBox="1"/>
          <p:nvPr/>
        </p:nvSpPr>
        <p:spPr>
          <a:xfrm>
            <a:off x="8037937" y="2635249"/>
            <a:ext cx="3350515" cy="1022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示例数据 #2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输入：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2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9 8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1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3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输出：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1 0 1</a:t>
            </a:r>
          </a:p>
        </p:txBody>
      </p:sp>
      <p:sp>
        <p:nvSpPr>
          <p:cNvPr id="153" name="示例数据 #3…"/>
          <p:cNvSpPr txBox="1"/>
          <p:nvPr/>
        </p:nvSpPr>
        <p:spPr>
          <a:xfrm>
            <a:off x="12995548" y="2635249"/>
            <a:ext cx="3350515" cy="1022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示例数据 #3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输入：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1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1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1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3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输出：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t>4</a:t>
            </a:r>
          </a:p>
        </p:txBody>
      </p:sp>
      <p:sp>
        <p:nvSpPr>
          <p:cNvPr id="154" name="示例数据 #4…"/>
          <p:cNvSpPr txBox="1"/>
          <p:nvPr/>
        </p:nvSpPr>
        <p:spPr>
          <a:xfrm>
            <a:off x="17953160" y="2635249"/>
            <a:ext cx="3350515" cy="10223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 err="1"/>
              <a:t>示例数据</a:t>
            </a:r>
            <a:r>
              <a:rPr dirty="0"/>
              <a:t> #4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 err="1"/>
              <a:t>输入</a:t>
            </a:r>
            <a:r>
              <a:rPr dirty="0"/>
              <a:t>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/>
              <a:t>3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/>
              <a:t>1</a:t>
            </a:r>
            <a:r>
              <a:rPr lang="zh-CN" altLang="en-US" dirty="0"/>
              <a:t> </a:t>
            </a:r>
            <a:r>
              <a:rPr dirty="0"/>
              <a:t>0</a:t>
            </a:r>
            <a:r>
              <a:rPr lang="zh-CN" altLang="en-US" dirty="0"/>
              <a:t> </a:t>
            </a:r>
            <a:r>
              <a:rPr dirty="0"/>
              <a:t>0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/>
              <a:t>3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/>
              <a:t>2</a:t>
            </a:r>
            <a:r>
              <a:rPr lang="zh-CN" altLang="en-US" dirty="0"/>
              <a:t> </a:t>
            </a:r>
            <a:r>
              <a:rPr dirty="0"/>
              <a:t>0</a:t>
            </a:r>
            <a:r>
              <a:rPr lang="zh-CN" altLang="en-US" dirty="0"/>
              <a:t> </a:t>
            </a:r>
            <a:r>
              <a:rPr dirty="0"/>
              <a:t>0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 err="1"/>
              <a:t>输出</a:t>
            </a:r>
            <a:r>
              <a:rPr dirty="0"/>
              <a:t>：</a:t>
            </a:r>
          </a:p>
          <a:p>
            <a:pPr marL="635000" indent="-635000" algn="l">
              <a:spcBef>
                <a:spcPts val="5900"/>
              </a:spcBef>
              <a:buSzPct val="125000"/>
              <a:buChar char="•"/>
              <a:defRPr sz="3800" b="0"/>
            </a:pPr>
            <a:r>
              <a:rPr dirty="0"/>
              <a:t>3 0 0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题目二 - 题目思路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题目二 - 题目思路</a:t>
            </a:r>
          </a:p>
        </p:txBody>
      </p:sp>
      <p:sp>
        <p:nvSpPr>
          <p:cNvPr id="157" name="思路一：…"/>
          <p:cNvSpPr txBox="1"/>
          <p:nvPr/>
        </p:nvSpPr>
        <p:spPr>
          <a:xfrm>
            <a:off x="1351677" y="2913258"/>
            <a:ext cx="20771224" cy="3180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 b="0"/>
            </a:pPr>
            <a:r>
              <a:rPr dirty="0" err="1"/>
              <a:t>思路一</a:t>
            </a:r>
            <a:r>
              <a:rPr dirty="0"/>
              <a:t>：</a:t>
            </a:r>
          </a:p>
          <a:p>
            <a:pPr marL="740833" indent="-740833" algn="l">
              <a:buSzPct val="100000"/>
              <a:buAutoNum type="arabicPeriod"/>
              <a:defRPr sz="4000" b="0"/>
            </a:pPr>
            <a:r>
              <a:rPr dirty="0" err="1"/>
              <a:t>如果两个线性表长度相等，对应位数相加，记录进位。如果最高位发生进位，则需要在整个线性表之前加入进位产生的新元素。例如</a:t>
            </a:r>
            <a:r>
              <a:rPr dirty="0"/>
              <a:t>：[9]</a:t>
            </a:r>
            <a:r>
              <a:rPr dirty="0" err="1"/>
              <a:t>和</a:t>
            </a:r>
            <a:r>
              <a:rPr dirty="0"/>
              <a:t>[1]</a:t>
            </a:r>
            <a:r>
              <a:rPr dirty="0" err="1"/>
              <a:t>生成</a:t>
            </a:r>
            <a:r>
              <a:rPr dirty="0"/>
              <a:t>[1,0]</a:t>
            </a:r>
          </a:p>
          <a:p>
            <a:pPr marL="740833" indent="-740833" algn="l">
              <a:buSzPct val="100000"/>
              <a:buAutoNum type="arabicPeriod"/>
              <a:defRPr sz="4000" b="0"/>
            </a:pPr>
            <a:r>
              <a:rPr dirty="0"/>
              <a:t>如果两个线性表长度不等，则可以通过「补0」将两个线性表长度对齐，例如：[1,2,3]</a:t>
            </a:r>
            <a:r>
              <a:rPr dirty="0" err="1"/>
              <a:t>和</a:t>
            </a:r>
            <a:r>
              <a:rPr dirty="0"/>
              <a:t>[5,0]，对第二个线性表补0为[0,5,0]，</a:t>
            </a:r>
            <a:r>
              <a:rPr dirty="0" err="1"/>
              <a:t>与</a:t>
            </a:r>
            <a:r>
              <a:rPr dirty="0"/>
              <a:t>[1,2,3]</a:t>
            </a:r>
            <a:r>
              <a:rPr dirty="0" err="1"/>
              <a:t>进行计算得到</a:t>
            </a:r>
            <a:r>
              <a:rPr dirty="0"/>
              <a:t>[1,</a:t>
            </a:r>
            <a:r>
              <a:rPr lang="en-US" altLang="zh-CN" dirty="0"/>
              <a:t>7</a:t>
            </a:r>
            <a:r>
              <a:rPr dirty="0"/>
              <a:t>,3]</a:t>
            </a:r>
          </a:p>
        </p:txBody>
      </p:sp>
      <p:sp>
        <p:nvSpPr>
          <p:cNvPr id="158" name="思路二：…"/>
          <p:cNvSpPr txBox="1"/>
          <p:nvPr/>
        </p:nvSpPr>
        <p:spPr>
          <a:xfrm>
            <a:off x="1351677" y="7650612"/>
            <a:ext cx="2077122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 b="0"/>
            </a:pPr>
            <a:r>
              <a:t>思路二：</a:t>
            </a:r>
          </a:p>
          <a:p>
            <a:pPr marL="740833" indent="-740833" algn="l">
              <a:buSzPct val="100000"/>
              <a:buAutoNum type="arabicPeriod"/>
              <a:defRPr sz="4000" b="0"/>
            </a:pPr>
            <a:r>
              <a:t>从两个线性表的末尾开始进行相加，并记录进位。相加得到的和存入新的线性表中。</a:t>
            </a:r>
          </a:p>
          <a:p>
            <a:pPr marL="740833" indent="-740833" algn="l">
              <a:buSzPct val="100000"/>
              <a:buAutoNum type="arabicPeriod"/>
              <a:defRPr sz="4000" b="0"/>
            </a:pPr>
            <a:r>
              <a:t>将得到的新的线性表逆序输出即可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题目二 - 线性表相加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题目二 - 线性表相加</a:t>
            </a:r>
          </a:p>
        </p:txBody>
      </p:sp>
      <p:sp>
        <p:nvSpPr>
          <p:cNvPr id="161" name="进阶要求一：使用自己定义的线性表结构体完成题目要求"/>
          <p:cNvSpPr txBox="1"/>
          <p:nvPr/>
        </p:nvSpPr>
        <p:spPr>
          <a:xfrm>
            <a:off x="1351677" y="3799349"/>
            <a:ext cx="20771224" cy="1408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 b="0"/>
            </a:pP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进阶</a:t>
            </a:r>
            <a:r>
              <a:t>要求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一</a:t>
            </a:r>
            <a:r>
              <a:t>：使用自己定义的</a:t>
            </a:r>
            <a:r>
              <a:rPr b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线性表结构体</a:t>
            </a:r>
            <a:r>
              <a:t>完成题目要求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题目二 - 线性表相加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题目二 - 线性表相加</a:t>
            </a:r>
          </a:p>
        </p:txBody>
      </p:sp>
      <p:sp>
        <p:nvSpPr>
          <p:cNvPr id="164" name="进阶要求二：输入数据创建两个非空线性表/数组来代表两个「有理数」，该有理数一定存在小数部分，小数点用数字{-1}代替，线性表/数组中的每个结点只存储一位数字。实现一种算法，将这两个线性表/数组相加得到一个的新的线性表，并将该线性表/数组以空格为间隔输出。输出结果右侧不含多余0。"/>
          <p:cNvSpPr txBox="1"/>
          <p:nvPr/>
        </p:nvSpPr>
        <p:spPr>
          <a:xfrm>
            <a:off x="1351677" y="3221035"/>
            <a:ext cx="20771224" cy="2564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4000" b="0"/>
            </a:pPr>
            <a:r>
              <a:rPr b="1" dirty="0" err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进阶</a:t>
            </a:r>
            <a:r>
              <a:rPr dirty="0" err="1"/>
              <a:t>要求</a:t>
            </a:r>
            <a:r>
              <a:rPr b="1" dirty="0" err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二</a:t>
            </a:r>
            <a:r>
              <a:rPr dirty="0" err="1"/>
              <a:t>：输入数据创建两个非空线性表</a:t>
            </a:r>
            <a:r>
              <a:rPr dirty="0"/>
              <a:t>/</a:t>
            </a:r>
            <a:r>
              <a:rPr dirty="0" err="1"/>
              <a:t>数组来代表两个「有理数</a:t>
            </a:r>
            <a:r>
              <a:rPr dirty="0"/>
              <a:t>」，</a:t>
            </a:r>
            <a:r>
              <a:rPr dirty="0" err="1"/>
              <a:t>该有理数一定存在小数部分，小数点用数字</a:t>
            </a:r>
            <a:r>
              <a:rPr dirty="0"/>
              <a:t>{-1}</a:t>
            </a:r>
            <a:r>
              <a:rPr dirty="0" err="1"/>
              <a:t>代替，线性表</a:t>
            </a:r>
            <a:r>
              <a:rPr dirty="0"/>
              <a:t>/</a:t>
            </a:r>
            <a:r>
              <a:rPr dirty="0" err="1"/>
              <a:t>数组中的每个结点只存储一位数字。实现一种算法，将这两个线性表</a:t>
            </a:r>
            <a:r>
              <a:rPr dirty="0"/>
              <a:t>/</a:t>
            </a:r>
            <a:r>
              <a:rPr dirty="0" err="1"/>
              <a:t>数组相加得到一个的新的线性表，并将该线性表</a:t>
            </a:r>
            <a:r>
              <a:rPr dirty="0"/>
              <a:t>/数组以空格为间隔输出。输出结果右侧不含多余0</a:t>
            </a:r>
            <a:r>
              <a:rPr lang="zh-CN" altLang="en-US" dirty="0"/>
              <a:t>和小数点</a:t>
            </a:r>
            <a:r>
              <a:rPr dirty="0"/>
              <a:t>。</a:t>
            </a:r>
          </a:p>
        </p:txBody>
      </p:sp>
      <p:sp>
        <p:nvSpPr>
          <p:cNvPr id="165" name="示例数据 #1…"/>
          <p:cNvSpPr txBox="1"/>
          <p:nvPr/>
        </p:nvSpPr>
        <p:spPr>
          <a:xfrm>
            <a:off x="1348234" y="5934485"/>
            <a:ext cx="7233437" cy="7306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示例数据 #1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输入：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4 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7 -1 4 3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3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5 -1 4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输出：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1 2 -1 8 3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解释：7.43 + 5.4 = 12.83</a:t>
            </a:r>
          </a:p>
        </p:txBody>
      </p:sp>
      <p:sp>
        <p:nvSpPr>
          <p:cNvPr id="166" name="示例数据 #2…"/>
          <p:cNvSpPr txBox="1"/>
          <p:nvPr/>
        </p:nvSpPr>
        <p:spPr>
          <a:xfrm>
            <a:off x="9654555" y="5934485"/>
            <a:ext cx="13351389" cy="7306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示例数据 #2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输入：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4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0 -1 0 1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4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9 -1 9 9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输出：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1 0</a:t>
            </a:r>
          </a:p>
          <a:p>
            <a:pPr marL="635000" indent="-635000" algn="l">
              <a:lnSpc>
                <a:spcPct val="10000"/>
              </a:lnSpc>
              <a:spcBef>
                <a:spcPts val="5900"/>
              </a:spcBef>
              <a:buSzPct val="125000"/>
              <a:buChar char="•"/>
              <a:defRPr sz="3700" b="0"/>
            </a:pPr>
            <a:r>
              <a:t>解释：0.01+9.99=10.00，省去右侧多余0及小数点，得到10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要求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要求</a:t>
            </a:r>
          </a:p>
        </p:txBody>
      </p:sp>
      <p:sp>
        <p:nvSpPr>
          <p:cNvPr id="169" name="截止时间：10月7日20 : 00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截止时间：</a:t>
            </a:r>
            <a:r>
              <a:rPr b="1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10月7日20 : 00</a:t>
            </a:r>
          </a:p>
          <a:p>
            <a:r>
              <a:rPr dirty="0"/>
              <a:t>能正确完成题目要求，答案正确得基础分85</a:t>
            </a:r>
            <a:r>
              <a:rPr lang="zh-CN" altLang="en-US" dirty="0"/>
              <a:t>，提交源代码</a:t>
            </a:r>
            <a:r>
              <a:rPr lang="zh-CN" altLang="en-US"/>
              <a:t>文件和实验报告</a:t>
            </a:r>
            <a:endParaRPr dirty="0"/>
          </a:p>
          <a:p>
            <a:r>
              <a:rPr dirty="0"/>
              <a:t>加分项：在</a:t>
            </a:r>
            <a:r>
              <a:rPr b="1" dirty="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10月2日下午20 : 00</a:t>
            </a:r>
            <a:r>
              <a:rPr dirty="0"/>
              <a:t>之前提交，完成题目二的进阶要求一和二，代码风格较好，注释充分，思路清晰，格式工整，条理清楚</a:t>
            </a:r>
          </a:p>
          <a:p>
            <a:r>
              <a:rPr dirty="0" err="1"/>
              <a:t>扣分项：作业迟交，</a:t>
            </a:r>
            <a:r>
              <a:rPr b="1" dirty="0" err="1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抄袭</a:t>
            </a:r>
            <a:r>
              <a:rPr dirty="0" err="1"/>
              <a:t>，代码不符合题目要求</a:t>
            </a:r>
            <a:endParaRPr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450</Words>
  <Application>Microsoft Macintosh PowerPoint</Application>
  <PresentationFormat>自定义</PresentationFormat>
  <Paragraphs>109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Helvetica Neue</vt:lpstr>
      <vt:lpstr>Helvetica Neue Light</vt:lpstr>
      <vt:lpstr>Helvetica Neue Medium</vt:lpstr>
      <vt:lpstr>White</vt:lpstr>
      <vt:lpstr>数据结构 - 实验二</vt:lpstr>
      <vt:lpstr>题目一 - 输出中间元素</vt:lpstr>
      <vt:lpstr>题目一 - 输出中间元素</vt:lpstr>
      <vt:lpstr>题目一 - 题目思路</vt:lpstr>
      <vt:lpstr>题目二 - 线性表相加</vt:lpstr>
      <vt:lpstr>题目二 - 线性表相加</vt:lpstr>
      <vt:lpstr>题目二 - 题目思路</vt:lpstr>
      <vt:lpstr>题目二 - 线性表相加</vt:lpstr>
      <vt:lpstr>题目二 - 线性表相加</vt:lpstr>
      <vt:lpstr>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数据结构 - 实验二</dc:title>
  <cp:lastModifiedBy>Microsoft Office User</cp:lastModifiedBy>
  <cp:revision>6</cp:revision>
  <dcterms:modified xsi:type="dcterms:W3CDTF">2020-09-29T03:57:59Z</dcterms:modified>
</cp:coreProperties>
</file>